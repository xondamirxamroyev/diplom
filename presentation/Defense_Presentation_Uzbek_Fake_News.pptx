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914400" y="2103120"/>
            <a:ext cx="10363200" cy="21945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ctr"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Calibri"/>
              </a:rPr>
              <a:t>A Comparative Analysis of Classical Machine Learning Models for Fake News Detection in the Uzbek Language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4297680"/>
            <a:ext cx="1036320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BTEC Level 6 Independent Project — Unit 2 (70726U)</a:t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PDP University · Faculty of Artificial Intelligence</a:t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/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[Full Name] · [Student ID] · Supervisor: [Supervisor Name]</a:t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Academic Year 2025–2026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1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1325880"/>
            <a:ext cx="10911840" cy="4983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Fake news spreads faster and farther than true news, harming public trust and safety.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Almost all detection research targets English and other high-resource languages.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Uzbek is under-served by NLP tools, yet digitalisation in Uzbekistan is rapid: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Morphologically rich (agglutinative) — large vocabulary, sparse data.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Dual script (Latin + Cyrillic) and frequent code-switching.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No documented, reproducible classical-model baseline for Uzbek.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Gap: which classical model works best for Uzbek fake-news detection?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2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Aim, Objectives &amp; Scope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1325880"/>
            <a:ext cx="10911840" cy="4983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Aim: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Design a reproducible pipeline and compare 5 classical models to find the best for Uzbek fake-news detection.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Objectives (SMART):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Review literature &amp; identify the gap.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Compile + preprocess a balanced Uzbek corpus; build TF-IDF features.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Implement &amp; tune 5 models in Python / scikit-learn.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Evaluate across 5 metrics with stratified 5-fold CV.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Scope: classical models only — excludes deep learning &amp; real-time systems.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3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Literature Review &amp; Research Gap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1325880"/>
            <a:ext cx="10911840" cy="4983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Fake-news detection is largely a content-based text-classification problem.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Classical models with TF-IDF remain strong, cheap and interpretable baselines (Joachims, 1998; Ahmed et al., 2017).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No single model dominates all datasets — empirical comparison matters (Ozbay &amp; Alatas, 2020).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Low-resource, morphologically rich languages need dedicated preprocessing (Hedderich et al., 2021).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Gap: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No reproducible comparison of classical models for Uzbek fake news.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4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Methodology &amp; Pipeline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1325880"/>
            <a:ext cx="10911840" cy="4983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Positivist, quantitative, experimental design (deductive).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Independent variable = model choice; everything else held constant.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Pipeline: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Preprocess: Cyrillic→Latin, clean, stop-words, light stemming.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Features: TF-IDF, unigrams+bigrams, min_df=3, ~20,000 terms.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Models: tuned with GridSearchCV inside stratified 5-fold CV.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Metrics: Accuracy, Precision, Recall, F1, ROC-AUC.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Tools: Python + scikit-learn (open source), commodity laptop.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640080" y="6217920"/>
            <a:ext cx="10911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2E74B5"/>
                </a:solidFill>
                <a:latin typeface="Calibri"/>
              </a:rPr>
              <a:t>Five model families: probabilistic, linear, margin-based, ensemble, instance-based.</a:t>
            </a:r>
          </a:p>
        </p:txBody>
      </p:sp>
      <p:sp>
        <p:nvSpPr>
          <p:cNvPr id="6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5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graphicFrame>
        <p:nvGraphicFramePr>
          <p:cNvPr id="4" name="ResultsTable"/>
          <p:cNvGraphicFramePr/>
          <p:nvPr/>
        </p:nvGraphicFramePr>
        <p:xfrm>
          <a:off x="548640" y="1325880"/>
          <a:ext cx="11094720" cy="1330960"/>
        </p:xfrm>
        <a:graphic>
          <a:graphicData uri="http://schemas.openxmlformats.org/drawingml/2006/table">
            <a:tbl>
              <a:tblPr firstRow="1" bandRow="1"/>
              <a:tblGrid>
                <a:gridCol w="3698240"/>
                <a:gridCol w="3698240"/>
                <a:gridCol w="36982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Reputable Uzbek outlets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Fabricated / false / satirical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4,200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Balanced binary corpus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640080" y="3022600"/>
            <a:ext cx="10911840" cy="3286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Balanced corpus of ~4,200 Uzbek news items (50% real / 50% fake).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Real: reputable, editorially governed outlets.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Fake: fabricated, satirical-as-news and documented false items.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Labelling rubric documented; only public text used (ethics: low risk).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Stratified 5-fold cross-validation preserves class balance.</a:t>
            </a:r>
          </a:p>
        </p:txBody>
      </p:sp>
      <p:sp>
        <p:nvSpPr>
          <p:cNvPr id="6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6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Results — Five Models × Five Metrics</a:t>
            </a:r>
          </a:p>
        </p:txBody>
      </p:sp>
      <p:graphicFrame>
        <p:nvGraphicFramePr>
          <p:cNvPr id="4" name="ResultsTable"/>
          <p:cNvGraphicFramePr/>
          <p:nvPr/>
        </p:nvGraphicFramePr>
        <p:xfrm>
          <a:off x="548640" y="1325880"/>
          <a:ext cx="11094720" cy="1971040"/>
        </p:xfrm>
        <a:graphic>
          <a:graphicData uri="http://schemas.openxmlformats.org/drawingml/2006/table">
            <a:tbl>
              <a:tblPr firstRow="1" bandRow="1"/>
              <a:tblGrid>
                <a:gridCol w="1849120"/>
                <a:gridCol w="1849120"/>
                <a:gridCol w="1849120"/>
                <a:gridCol w="1849120"/>
                <a:gridCol w="1849120"/>
                <a:gridCol w="18491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Acc.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Linear SVM  (best)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0.918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0.912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45720" marR="45720" marT="22860" marB="22860" anchor="ctr"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0.899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Multinomial NB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k-Nearest Neighbours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45720" marR="45720" marT="22860" marB="22860" anchor="ctr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640080" y="6217920"/>
            <a:ext cx="10911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2E74B5"/>
                </a:solidFill>
                <a:latin typeface="Calibri"/>
              </a:rPr>
              <a:t>Mean over 5 folds. Linear SVM leads on 4 of 5 metrics; k-NN clearly weakest on sparse high-dimensional features.</a:t>
            </a:r>
          </a:p>
        </p:txBody>
      </p:sp>
      <p:sp>
        <p:nvSpPr>
          <p:cNvPr id="6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7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Discussion &amp; Interpretation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1325880"/>
            <a:ext cx="10911840" cy="4983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Linear, discriminative models (SVM, LR) fit sparse high-dimensional TF-IDF well — confirms hypothesis H1.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k-NN suffers from the curse of dimensionality (distances lose meaning).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Naïve Bayes: highest recall but lower precision → lower F1.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Random Forest solid but no edge over linear models on sparse text.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Best models are also fast: train in ~1–2 s on a normal laptop.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Findings reproduce English-language patterns in a low-resource language.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8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01168"/>
            <a:ext cx="11277600" cy="7315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l"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Conclusion &amp; Recommendations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1325880"/>
            <a:ext cx="10911840" cy="4983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Linear SVM is the most effective classical model for Uzbek fake news (F1 ≈ 0.91, ROC-AUC ≈ 0.96).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All five SMART objectives achieved within the 2-month timeline.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Contribution: first documented, reproducible Uzbek classical baseline.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For practice: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Deploy SVM/LR + TF-IDF as a lightweight first-pass filter to triage human review.</a:t>
            </a:r>
          </a:p>
          <a:p>
            <a:pPr lvl="0" algn="l" marL="274320" indent="-274320">
              <a:spcBef>
                <a:spcPts val="500"/>
              </a:spcBef>
              <a:buFont typeface="Arial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For future work:</a:t>
            </a:r>
          </a:p>
          <a:p>
            <a:pPr lvl="1" algn="l" marL="617220" indent="-274320">
              <a:spcBef>
                <a:spcPts val="500"/>
              </a:spcBef>
              <a:buFont typeface="Arial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/>
              </a:rPr>
              <a:t>Larger benchmark; morphological analyser; compare vs. transformers.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9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914400" y="2103120"/>
            <a:ext cx="10363200" cy="21945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lvl="0" algn="ctr"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4297680"/>
            <a:ext cx="1036320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Questions &amp; Discussion</a:t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/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A Comparative Analysis of Classical Machine Learning Models for Fake News Detection in the Uzbek Language</a:t>
            </a:r>
          </a:p>
          <a:p>
            <a:pPr lvl="0" algn="ctr"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BBD0E8"/>
                </a:solidFill>
                <a:latin typeface="Calibri"/>
              </a:rPr>
              <a:t>Code &amp; thesis: see project repository</a:t>
            </a:r>
          </a:p>
        </p:txBody>
      </p:sp>
      <p:sp>
        <p:nvSpPr>
          <p:cNvPr id="5" name="pgnum"/>
          <p:cNvSpPr txBox="1"/>
          <p:nvPr/>
        </p:nvSpPr>
        <p:spPr>
          <a:xfrm>
            <a:off x="10911840" y="6446520"/>
            <a:ext cx="1097280" cy="2743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lvl="0" algn="r"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9AA7B5"/>
                </a:solidFill>
                <a:latin typeface="Calibri"/>
              </a:rPr>
              <a:t>10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2E74B5"/>
      </a:accent1>
      <a:accent2>
        <a:srgbClr val="C00000"/>
      </a:accent2>
      <a:accent3>
        <a:srgbClr val="2E7D32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